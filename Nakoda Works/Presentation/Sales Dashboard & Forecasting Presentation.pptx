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67F1F4-6E5E-4A14-8197-A0F3992F6CB2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EDB9D6-F5AD-4F3C-AB5B-98B179E846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255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Total amount generated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DB9D6-F5AD-4F3C-AB5B-98B179E8463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22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01F08-D93E-A5AA-2338-818E15F843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98CC88-C829-2AEF-C996-F148647401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32152-C248-CEA4-DBC7-B3993C6D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75033-717F-A891-91AC-FBCECB019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E067C-74BC-B856-D794-D2F326188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403995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34AF7-2CAA-56FC-36B5-A465985F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CE5B3-AAE6-A6F8-266D-085D043DF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BE6CF-E5A2-E333-8EC0-C1B9DBC3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6CF0B-76DC-D4F4-8734-7C895E64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D002B-28C9-4016-AD84-0384877B2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085903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27EC-6B63-C556-55A2-416DC5FE7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47760-9322-1990-F5BA-C02A0602B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6D763-DE72-464D-DC64-D55A9E41D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87BD4-CC9E-B55F-3094-91E18A98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58FCC-9769-06A2-FA35-C49F9183C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53592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7721A-43D8-FAB6-0B71-D24E3AD18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2C673E-1A4C-8DCE-161D-EDCFDD7501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417C2-2AED-9268-5EEF-4B65118450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C4C17-A73A-5A89-002D-4EF23BCF2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B9A8F-2578-FC9B-C312-F4287D7D8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B9870-6239-241A-7B6E-FDF4AE75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985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CBBA6-DCD2-5F43-7BED-916C2C9F0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8B3954-3BF0-F763-40FE-08FF4C6F6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4B5EE-87C5-BBCC-CB1F-F74C7166C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DD587B-A662-95A2-293E-4950DF4DE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CD471-2434-5AF5-4D1B-20EFF837BC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BD0D0-B270-66CF-2C58-2BB2085B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85FAA1-06CF-8826-EBFE-346C49E8F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6A9C58-1F5C-9D4F-6F20-B1B4D7E0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26495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390FE-4CE4-F545-4CE5-B7CDB5B8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388A76-CFB7-C791-734F-4725621E7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B35CC-43AA-65EE-50C4-EAC9D0AB9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D08CE-B160-E274-F69D-9A76A080F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174825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84211-80EA-2721-B460-9A637B703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AE4A8E-4E04-7393-9EA8-256CB8469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8E8373-6148-D416-9E7B-9C7D2BB6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43685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32614-801A-1380-060C-A9D80A9F6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F042B-FF35-6BDD-DDD8-9FE472B630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31F53-E511-A93A-CA74-E966A9DB4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63B7CB-1A0B-6017-C380-569B28B4B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CC351-8FB9-FF5B-C183-16584108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5D186-EBCD-B0DB-0F6D-7CBB58066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356197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8F1C9-C95E-803F-237E-46658592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BF80A3-5F7D-28C6-8719-BBCAA80B9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BCA99B-7B05-8286-A1FA-AA2FB8F696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D219F-76D1-38C0-3BD7-5FE49090D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B4865-6731-1A4F-FAE2-97F8BA9F1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337BC-2402-588F-75C6-7CAB7AD85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906024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7524D-905E-0FC5-A5AB-765475FEC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A7475-D544-C4A8-C1F4-3FD428659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05AC-962C-480C-2A3B-7883C5A0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9D9A6-3E5E-C6A9-86BE-6CFE07222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B5D9D-C7F7-AAAE-09D1-6938D5AD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0689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0E85BD-1D17-058B-D74E-E1D3D62F9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DBA90-FF18-1E13-5BDA-7004F6A95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742CB-FB27-ED2F-24D3-FFF38767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FE4F-B759-3F73-7B28-F5FFB3A8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ECCC9-BD2F-DACC-3D8D-6F71B5391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303370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86E019-AD22-7C65-1ED5-0D049732C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23186F-DB5F-39D3-443C-CE996AC201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8BAA0-801B-7E43-BF53-C10ADAA99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6750C-4534-477A-A715-F9E6EB9AC95B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9E271-E840-490D-97F9-D8FAD347A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47A4C-109D-D677-7BA4-F13134CA2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6C87E-788C-408A-9E03-CA6F51B2ED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336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5AAEF-B132-00BF-0A9A-089CED258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475" y="284672"/>
            <a:ext cx="9299276" cy="1069676"/>
          </a:xfrm>
        </p:spPr>
        <p:txBody>
          <a:bodyPr>
            <a:normAutofit fontScale="90000"/>
          </a:bodyPr>
          <a:lstStyle/>
          <a:p>
            <a:r>
              <a:rPr lang="en-IN" sz="3500" b="1" dirty="0">
                <a:latin typeface="Aparajita" panose="02020603050405020304" pitchFamily="18" charset="0"/>
                <a:cs typeface="Aparajita" panose="02020603050405020304" pitchFamily="18" charset="0"/>
              </a:rPr>
              <a:t>Sales Dashboard &amp; Forecasting Presentation</a:t>
            </a:r>
            <a:br>
              <a:rPr lang="en-IN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IN" sz="2200" dirty="0">
                <a:latin typeface="Aparajita" panose="02020603050405020304" pitchFamily="18" charset="0"/>
                <a:cs typeface="Aparajita" panose="02020603050405020304" pitchFamily="18" charset="0"/>
              </a:rPr>
              <a:t>Using Power BI &amp; Tableau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21E083-0213-8D34-9F76-17E67C10B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818" y="2307718"/>
            <a:ext cx="11197084" cy="4369127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Calisto MT" panose="02040603050505030304" pitchFamily="18" charset="0"/>
              </a:rPr>
              <a:t>    What is Dashboard?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sto MT" panose="02040603050505030304" pitchFamily="18" charset="0"/>
              </a:rPr>
              <a:t>Dashboard is a visual interface to analyze and understand your data easily.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Calisto MT" panose="02040603050505030304" pitchFamily="18" charset="0"/>
              </a:rPr>
              <a:t>Helps in tracking Key Performance Index, trends, customer activity, etc.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000" dirty="0">
              <a:latin typeface="Calisto MT" panose="02040603050505030304" pitchFamily="18" charset="0"/>
            </a:endParaRPr>
          </a:p>
          <a:p>
            <a:pPr algn="l"/>
            <a:r>
              <a:rPr lang="en-US" b="1" dirty="0">
                <a:latin typeface="Calisto MT" panose="02040603050505030304" pitchFamily="18" charset="0"/>
              </a:rPr>
              <a:t>    How to Open &amp; Use it ?</a:t>
            </a:r>
            <a:endParaRPr lang="en-IN" b="1" dirty="0">
              <a:latin typeface="Calisto MT" panose="020406030505050303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sz="1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/>
              <a:t>      Provided Dashboard are in two formats – </a:t>
            </a:r>
            <a:r>
              <a:rPr lang="en-IN" sz="2000" dirty="0">
                <a:highlight>
                  <a:srgbClr val="00FFFF"/>
                </a:highlight>
              </a:rPr>
              <a:t>.</a:t>
            </a:r>
            <a:r>
              <a:rPr lang="en-IN" sz="2000" dirty="0" err="1">
                <a:highlight>
                  <a:srgbClr val="00FFFF"/>
                </a:highlight>
              </a:rPr>
              <a:t>pbix</a:t>
            </a:r>
            <a:r>
              <a:rPr lang="en-IN" sz="2000" dirty="0">
                <a:highlight>
                  <a:srgbClr val="00FFFF"/>
                </a:highlight>
              </a:rPr>
              <a:t> </a:t>
            </a:r>
            <a:r>
              <a:rPr lang="en-IN" sz="2000" dirty="0"/>
              <a:t>&amp; </a:t>
            </a:r>
            <a:r>
              <a:rPr lang="en-IN" sz="2000" dirty="0">
                <a:highlight>
                  <a:srgbClr val="00FFFF"/>
                </a:highlight>
              </a:rPr>
              <a:t>.</a:t>
            </a:r>
            <a:r>
              <a:rPr lang="en-IN" sz="2000" dirty="0" err="1">
                <a:highlight>
                  <a:srgbClr val="00FFFF"/>
                </a:highlight>
              </a:rPr>
              <a:t>twbx</a:t>
            </a:r>
            <a:endParaRPr lang="en-IN" sz="2000" dirty="0">
              <a:highlight>
                <a:srgbClr val="00FFFF"/>
              </a:highlight>
            </a:endParaRPr>
          </a:p>
          <a:p>
            <a:pPr algn="l"/>
            <a:r>
              <a:rPr lang="en-IN" sz="2000" dirty="0"/>
              <a:t>	</a:t>
            </a:r>
            <a:r>
              <a:rPr lang="en-IN" sz="2000" dirty="0">
                <a:highlight>
                  <a:srgbClr val="00FFFF"/>
                </a:highlight>
              </a:rPr>
              <a:t>.</a:t>
            </a:r>
            <a:r>
              <a:rPr lang="en-IN" sz="2000" dirty="0" err="1">
                <a:highlight>
                  <a:srgbClr val="00FFFF"/>
                </a:highlight>
              </a:rPr>
              <a:t>pbix</a:t>
            </a:r>
            <a:r>
              <a:rPr lang="en-IN" sz="2000" dirty="0">
                <a:highlight>
                  <a:srgbClr val="00FFFF"/>
                </a:highlight>
              </a:rPr>
              <a:t> </a:t>
            </a:r>
            <a:r>
              <a:rPr lang="en-IN" sz="2000" dirty="0"/>
              <a:t>format file is </a:t>
            </a:r>
            <a:r>
              <a:rPr lang="en-IN" sz="2000" dirty="0" err="1"/>
              <a:t>PowerBI</a:t>
            </a:r>
            <a:r>
              <a:rPr lang="en-IN" sz="2000" dirty="0"/>
              <a:t> Dashboard &amp; can open from </a:t>
            </a:r>
            <a:r>
              <a:rPr lang="en-IN" sz="2000" dirty="0" err="1"/>
              <a:t>PowerBI</a:t>
            </a:r>
            <a:r>
              <a:rPr lang="en-IN" sz="2000" dirty="0"/>
              <a:t>.</a:t>
            </a:r>
          </a:p>
          <a:p>
            <a:pPr algn="l"/>
            <a:r>
              <a:rPr lang="en-IN" sz="2000" dirty="0"/>
              <a:t>	</a:t>
            </a:r>
            <a:r>
              <a:rPr lang="en-IN" sz="2000" dirty="0">
                <a:highlight>
                  <a:srgbClr val="00FFFF"/>
                </a:highlight>
              </a:rPr>
              <a:t>.</a:t>
            </a:r>
            <a:r>
              <a:rPr lang="en-IN" sz="2000" dirty="0" err="1">
                <a:highlight>
                  <a:srgbClr val="00FFFF"/>
                </a:highlight>
              </a:rPr>
              <a:t>twbx</a:t>
            </a:r>
            <a:r>
              <a:rPr lang="en-IN" sz="2000" dirty="0">
                <a:highlight>
                  <a:srgbClr val="00FFFF"/>
                </a:highlight>
              </a:rPr>
              <a:t> </a:t>
            </a:r>
            <a:r>
              <a:rPr lang="en-IN" sz="2000" dirty="0"/>
              <a:t>format file is Tableau Dashboard &amp; can open from Tableau.</a:t>
            </a:r>
          </a:p>
          <a:p>
            <a:pPr algn="l"/>
            <a:r>
              <a:rPr lang="en-IN" sz="2000" dirty="0"/>
              <a:t>	Both tools can show Real Time Data on Website.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919DCB-3C58-EBF4-A726-2A93249678A7}"/>
              </a:ext>
            </a:extLst>
          </p:cNvPr>
          <p:cNvSpPr txBox="1"/>
          <p:nvPr/>
        </p:nvSpPr>
        <p:spPr>
          <a:xfrm>
            <a:off x="396818" y="1457865"/>
            <a:ext cx="1160252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latin typeface="Calisto MT" panose="02040603050505030304" pitchFamily="18" charset="0"/>
              </a:rPr>
              <a:t>Objective </a:t>
            </a:r>
            <a:r>
              <a:rPr lang="en-IN" sz="2400" b="1" dirty="0">
                <a:latin typeface="Calisto MT" panose="02040603050505030304" pitchFamily="18" charset="0"/>
                <a:sym typeface="Wingdings" panose="05000000000000000000" pitchFamily="2" charset="2"/>
              </a:rPr>
              <a:t> </a:t>
            </a:r>
            <a:r>
              <a:rPr lang="en-IN" b="1" dirty="0">
                <a:latin typeface="Calisto MT" panose="02040603050505030304" pitchFamily="18" charset="0"/>
                <a:sym typeface="Wingdings" panose="05000000000000000000" pitchFamily="2" charset="2"/>
              </a:rPr>
              <a:t>This Presentation will help to understand, use, visualize, &amp; interact with the dashboard &amp; give 	              basic Knowledge about it.</a:t>
            </a:r>
            <a:endParaRPr lang="en-IN" b="1" dirty="0"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012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A8AD74-400C-E518-CCDB-379A21B58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13" y="234545"/>
            <a:ext cx="11671542" cy="3008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Power BI: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Download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PowerBI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from the Microsoft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PowerBI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Website or from Microsoft Store.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You can open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.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pbix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file in Power BI Desktop (free).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   Or publish &amp; view online in Power BI Service (need work account)</a:t>
            </a:r>
          </a:p>
          <a:p>
            <a:pPr marL="0" marR="0" lvl="0" indent="0" algn="l" defTabSz="914400" rtl="0" eaLnBrk="0" fontAlgn="base" latinLnBrk="0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Calisto MT" panose="02040603050505030304" pitchFamily="18" charset="0"/>
              </a:rPr>
              <a:t> </a:t>
            </a:r>
            <a:r>
              <a:rPr lang="en-US" altLang="en-US" b="1" dirty="0">
                <a:latin typeface="Calisto MT" panose="02040603050505030304" pitchFamily="18" charset="0"/>
              </a:rPr>
              <a:t>STEPS : </a:t>
            </a:r>
            <a:r>
              <a:rPr lang="en-US" altLang="en-US" dirty="0">
                <a:latin typeface="Calisto MT" panose="02040603050505030304" pitchFamily="18" charset="0"/>
              </a:rPr>
              <a:t>Just Double click on the .</a:t>
            </a:r>
            <a:r>
              <a:rPr lang="en-US" altLang="en-US" dirty="0" err="1">
                <a:latin typeface="Calisto MT" panose="02040603050505030304" pitchFamily="18" charset="0"/>
              </a:rPr>
              <a:t>pbix</a:t>
            </a:r>
            <a:r>
              <a:rPr lang="en-US" altLang="en-US" dirty="0">
                <a:latin typeface="Calisto MT" panose="02040603050505030304" pitchFamily="18" charset="0"/>
              </a:rPr>
              <a:t> file </a:t>
            </a:r>
            <a:r>
              <a:rPr lang="en-US" altLang="en-US" b="1" dirty="0">
                <a:latin typeface="Calisto MT" panose="02040603050505030304" pitchFamily="18" charset="0"/>
              </a:rPr>
              <a:t>after Installing </a:t>
            </a:r>
            <a:r>
              <a:rPr lang="en-US" altLang="en-US" b="1" dirty="0" err="1">
                <a:latin typeface="Calisto MT" panose="02040603050505030304" pitchFamily="18" charset="0"/>
              </a:rPr>
              <a:t>PowerBI</a:t>
            </a:r>
            <a:r>
              <a:rPr lang="en-US" altLang="en-US" b="1" dirty="0">
                <a:latin typeface="Calisto MT" panose="02040603050505030304" pitchFamily="18" charset="0"/>
              </a:rPr>
              <a:t> </a:t>
            </a:r>
            <a:r>
              <a:rPr lang="en-US" altLang="en-US" dirty="0">
                <a:latin typeface="Calisto MT" panose="02040603050505030304" pitchFamily="18" charset="0"/>
              </a:rPr>
              <a:t>to view in the tool</a:t>
            </a:r>
            <a:r>
              <a:rPr lang="en-US" altLang="en-US" b="1" dirty="0">
                <a:latin typeface="Calisto MT" panose="02040603050505030304" pitchFamily="18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34911D9-C0D6-A5F6-E3C6-FBAC428D2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296" y="3269411"/>
            <a:ext cx="4804916" cy="3340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8BB83A0-17BB-887F-AE86-2E0560A93D43}"/>
              </a:ext>
            </a:extLst>
          </p:cNvPr>
          <p:cNvCxnSpPr>
            <a:cxnSpLocks/>
          </p:cNvCxnSpPr>
          <p:nvPr/>
        </p:nvCxnSpPr>
        <p:spPr>
          <a:xfrm flipH="1" flipV="1">
            <a:off x="1086928" y="4511615"/>
            <a:ext cx="1216325" cy="138022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837AEAF8-1302-9302-CE3D-B321F1BDF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873" y="3269411"/>
            <a:ext cx="5941831" cy="3340925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14135767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9B414-DB2E-257E-13BC-140BFEE3D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220" y="0"/>
            <a:ext cx="11635596" cy="13255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500" dirty="0">
                <a:latin typeface="Calisto MT" panose="02040603050505030304" pitchFamily="18" charset="0"/>
              </a:rPr>
              <a:t>Collapse the Filters, Visualization, Data tabs for better view in </a:t>
            </a:r>
            <a:r>
              <a:rPr lang="en-IN" sz="2500" dirty="0" err="1">
                <a:latin typeface="Calisto MT" panose="02040603050505030304" pitchFamily="18" charset="0"/>
              </a:rPr>
              <a:t>PowerBI</a:t>
            </a:r>
            <a:r>
              <a:rPr lang="en-IN" sz="2500" dirty="0">
                <a:latin typeface="Calisto MT" panose="02040603050505030304" pitchFamily="18" charset="0"/>
              </a:rPr>
              <a:t> desktop by clicking on the arrow’s.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F7C79-B020-0A7E-8F39-799FCCD2F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061" y="1813319"/>
            <a:ext cx="4901063" cy="39165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64398BD-BBA3-FE2A-4E0B-AF4FA8910C9D}"/>
              </a:ext>
            </a:extLst>
          </p:cNvPr>
          <p:cNvCxnSpPr>
            <a:cxnSpLocks/>
          </p:cNvCxnSpPr>
          <p:nvPr/>
        </p:nvCxnSpPr>
        <p:spPr>
          <a:xfrm flipH="1">
            <a:off x="2605178" y="1128174"/>
            <a:ext cx="1160252" cy="199458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01C7FCA-3363-23C3-3A90-F0346C220814}"/>
              </a:ext>
            </a:extLst>
          </p:cNvPr>
          <p:cNvCxnSpPr>
            <a:cxnSpLocks/>
          </p:cNvCxnSpPr>
          <p:nvPr/>
        </p:nvCxnSpPr>
        <p:spPr>
          <a:xfrm>
            <a:off x="3778370" y="1128174"/>
            <a:ext cx="142336" cy="199458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1E979DD-67CF-F1DC-D557-B68EB36BB591}"/>
              </a:ext>
            </a:extLst>
          </p:cNvPr>
          <p:cNvCxnSpPr>
            <a:cxnSpLocks/>
          </p:cNvCxnSpPr>
          <p:nvPr/>
        </p:nvCxnSpPr>
        <p:spPr>
          <a:xfrm>
            <a:off x="3765430" y="1128174"/>
            <a:ext cx="1419045" cy="1994588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586CF22-E9CE-1198-D363-12A9EA84704C}"/>
              </a:ext>
            </a:extLst>
          </p:cNvPr>
          <p:cNvSpPr/>
          <p:nvPr/>
        </p:nvSpPr>
        <p:spPr>
          <a:xfrm>
            <a:off x="3588589" y="957532"/>
            <a:ext cx="379562" cy="368031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74B18-3A5B-0337-0AB1-4E467A0192ED}"/>
              </a:ext>
            </a:extLst>
          </p:cNvPr>
          <p:cNvSpPr txBox="1"/>
          <p:nvPr/>
        </p:nvSpPr>
        <p:spPr>
          <a:xfrm>
            <a:off x="5818516" y="1830572"/>
            <a:ext cx="5145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Calisto MT" panose="02040603050505030304" pitchFamily="18" charset="0"/>
              </a:rPr>
              <a:t>Data </a:t>
            </a:r>
            <a:r>
              <a:rPr lang="en-IN" sz="1800" dirty="0" err="1">
                <a:latin typeface="Calisto MT" panose="02040603050505030304" pitchFamily="18" charset="0"/>
              </a:rPr>
              <a:t>PowerBI</a:t>
            </a:r>
            <a:r>
              <a:rPr lang="en-IN" sz="1800" dirty="0">
                <a:latin typeface="Calisto MT" panose="02040603050505030304" pitchFamily="18" charset="0"/>
              </a:rPr>
              <a:t> does not contain any presentation mode </a:t>
            </a:r>
            <a:r>
              <a:rPr lang="en-IN" dirty="0">
                <a:latin typeface="Calisto MT" panose="02040603050505030304" pitchFamily="18" charset="0"/>
              </a:rPr>
              <a:t>so this will help to get better view.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6A4022-FFF1-EAC0-7CDD-92260687C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516" y="2660212"/>
            <a:ext cx="5459305" cy="306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515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D3589F-02AB-1CC9-B910-1D147D660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914" y="1407048"/>
            <a:ext cx="7039538" cy="395813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5443858-3753-83D8-F521-6D2296D5C5CA}"/>
              </a:ext>
            </a:extLst>
          </p:cNvPr>
          <p:cNvGrpSpPr/>
          <p:nvPr/>
        </p:nvGrpSpPr>
        <p:grpSpPr>
          <a:xfrm>
            <a:off x="2443767" y="234517"/>
            <a:ext cx="9883379" cy="1758184"/>
            <a:chOff x="2443767" y="234517"/>
            <a:chExt cx="9883379" cy="1758184"/>
          </a:xfrm>
        </p:grpSpPr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787557D6-5610-4564-A8EC-EA99CDC665EE}"/>
                </a:ext>
              </a:extLst>
            </p:cNvPr>
            <p:cNvSpPr/>
            <p:nvPr/>
          </p:nvSpPr>
          <p:spPr>
            <a:xfrm>
              <a:off x="3165894" y="603849"/>
              <a:ext cx="586597" cy="1388852"/>
            </a:xfrm>
            <a:prstGeom prst="downArrow">
              <a:avLst/>
            </a:prstGeom>
            <a:solidFill>
              <a:srgbClr val="FFFF00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EA04966-7596-4980-D137-2610CBA6ADCB}"/>
                </a:ext>
              </a:extLst>
            </p:cNvPr>
            <p:cNvSpPr txBox="1"/>
            <p:nvPr/>
          </p:nvSpPr>
          <p:spPr>
            <a:xfrm>
              <a:off x="2443767" y="234517"/>
              <a:ext cx="988337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Calisto MT" panose="02040603050505030304" pitchFamily="18" charset="0"/>
                </a:rPr>
                <a:t>Total Revenue Generated = Clothing Revenue + Home Appliance Revenue + Electronics Revenue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2BCC2C0-AC47-BB69-5D71-84B4466DE2F7}"/>
              </a:ext>
            </a:extLst>
          </p:cNvPr>
          <p:cNvGrpSpPr/>
          <p:nvPr/>
        </p:nvGrpSpPr>
        <p:grpSpPr>
          <a:xfrm>
            <a:off x="3996186" y="224126"/>
            <a:ext cx="5752046" cy="1861397"/>
            <a:chOff x="3996186" y="131304"/>
            <a:chExt cx="6094562" cy="1861397"/>
          </a:xfrm>
        </p:grpSpPr>
        <p:sp>
          <p:nvSpPr>
            <p:cNvPr id="18" name="Arrow: Down 17">
              <a:extLst>
                <a:ext uri="{FF2B5EF4-FFF2-40B4-BE49-F238E27FC236}">
                  <a16:creationId xmlns:a16="http://schemas.microsoft.com/office/drawing/2014/main" id="{75977BF0-CC0D-DCE8-22F3-C562068ADC97}"/>
                </a:ext>
              </a:extLst>
            </p:cNvPr>
            <p:cNvSpPr/>
            <p:nvPr/>
          </p:nvSpPr>
          <p:spPr>
            <a:xfrm>
              <a:off x="4598216" y="603849"/>
              <a:ext cx="491705" cy="1388852"/>
            </a:xfrm>
            <a:prstGeom prst="downArrow">
              <a:avLst/>
            </a:prstGeom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078944E-3935-C77B-E00D-884DEC2B7588}"/>
                </a:ext>
              </a:extLst>
            </p:cNvPr>
            <p:cNvSpPr txBox="1"/>
            <p:nvPr/>
          </p:nvSpPr>
          <p:spPr>
            <a:xfrm>
              <a:off x="3996186" y="131304"/>
              <a:ext cx="60945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alisto MT" panose="02040603050505030304" pitchFamily="18" charset="0"/>
                </a:rPr>
                <a:t>Total Units Sold = sum of all </a:t>
              </a:r>
              <a:r>
                <a:rPr lang="en-IN" dirty="0"/>
                <a:t>category units sold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896954-0C46-BA21-973E-CE6DB851B547}"/>
              </a:ext>
            </a:extLst>
          </p:cNvPr>
          <p:cNvSpPr txBox="1"/>
          <p:nvPr/>
        </p:nvSpPr>
        <p:spPr>
          <a:xfrm>
            <a:off x="1259457" y="2721114"/>
            <a:ext cx="1022230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>
                <a:latin typeface="Calisto MT" panose="02040603050505030304" pitchFamily="18" charset="0"/>
              </a:rPr>
              <a:t>Understanding the Elements of Dashboard.</a:t>
            </a:r>
            <a:endParaRPr lang="en-IN" sz="40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DE96E17-3F2A-8444-5C37-4FE6F33C8445}"/>
              </a:ext>
            </a:extLst>
          </p:cNvPr>
          <p:cNvGrpSpPr/>
          <p:nvPr/>
        </p:nvGrpSpPr>
        <p:grpSpPr>
          <a:xfrm>
            <a:off x="4475519" y="2625242"/>
            <a:ext cx="7749061" cy="3908512"/>
            <a:chOff x="4442939" y="2622430"/>
            <a:chExt cx="7749061" cy="3908512"/>
          </a:xfrm>
        </p:grpSpPr>
        <p:sp>
          <p:nvSpPr>
            <p:cNvPr id="6" name="Arrow: Up 5">
              <a:extLst>
                <a:ext uri="{FF2B5EF4-FFF2-40B4-BE49-F238E27FC236}">
                  <a16:creationId xmlns:a16="http://schemas.microsoft.com/office/drawing/2014/main" id="{E0022B19-F026-2031-7E09-50F9DD70C103}"/>
                </a:ext>
              </a:extLst>
            </p:cNvPr>
            <p:cNvSpPr/>
            <p:nvPr/>
          </p:nvSpPr>
          <p:spPr>
            <a:xfrm>
              <a:off x="6818988" y="2622430"/>
              <a:ext cx="1132935" cy="3538898"/>
            </a:xfrm>
            <a:prstGeom prst="upArrow">
              <a:avLst>
                <a:gd name="adj1" fmla="val 24112"/>
                <a:gd name="adj2" fmla="val 45432"/>
              </a:avLst>
            </a:prstGeom>
            <a:solidFill>
              <a:srgbClr val="FFFF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F1B25B3-881E-9510-D630-391918385A5A}"/>
                </a:ext>
              </a:extLst>
            </p:cNvPr>
            <p:cNvSpPr txBox="1"/>
            <p:nvPr/>
          </p:nvSpPr>
          <p:spPr>
            <a:xfrm>
              <a:off x="4442939" y="6161610"/>
              <a:ext cx="77490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b="0" i="0" dirty="0">
                  <a:effectLst/>
                  <a:latin typeface="Bell MT" panose="02020503060305020303" pitchFamily="18" charset="0"/>
                </a:rPr>
                <a:t>Revenue Timeline by Month = Total revenue Generated per month </a:t>
              </a:r>
              <a:endParaRPr lang="en-IN" dirty="0">
                <a:latin typeface="Bell MT" panose="02020503060305020303" pitchFamily="18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9E85475-496C-62DA-3EE0-4EFDFD941460}"/>
              </a:ext>
            </a:extLst>
          </p:cNvPr>
          <p:cNvGrpSpPr/>
          <p:nvPr/>
        </p:nvGrpSpPr>
        <p:grpSpPr>
          <a:xfrm>
            <a:off x="2611427" y="3733595"/>
            <a:ext cx="3206870" cy="2520555"/>
            <a:chOff x="2578911" y="3707769"/>
            <a:chExt cx="3206870" cy="2520555"/>
          </a:xfrm>
        </p:grpSpPr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6FC8DA88-229A-A37A-5A76-DE3424811CD6}"/>
                </a:ext>
              </a:extLst>
            </p:cNvPr>
            <p:cNvSpPr/>
            <p:nvPr/>
          </p:nvSpPr>
          <p:spPr>
            <a:xfrm rot="16200000">
              <a:off x="2986289" y="4568991"/>
              <a:ext cx="2175071" cy="452627"/>
            </a:xfrm>
            <a:prstGeom prst="rightArrow">
              <a:avLst/>
            </a:prstGeom>
            <a:solidFill>
              <a:srgbClr val="FFFF00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A62EE16-1E10-A0E6-10D6-6509C8BBB118}"/>
                </a:ext>
              </a:extLst>
            </p:cNvPr>
            <p:cNvSpPr txBox="1"/>
            <p:nvPr/>
          </p:nvSpPr>
          <p:spPr>
            <a:xfrm>
              <a:off x="2578911" y="5858992"/>
              <a:ext cx="32068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Bell MT" panose="02020503060305020303" pitchFamily="18" charset="0"/>
                </a:rPr>
                <a:t>Revenue Generated per region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A83D25-F85D-75D9-B4C4-71E2A9A707EE}"/>
              </a:ext>
            </a:extLst>
          </p:cNvPr>
          <p:cNvGrpSpPr/>
          <p:nvPr/>
        </p:nvGrpSpPr>
        <p:grpSpPr>
          <a:xfrm>
            <a:off x="8507900" y="2172242"/>
            <a:ext cx="3495690" cy="1356596"/>
            <a:chOff x="8507900" y="2172242"/>
            <a:chExt cx="3495690" cy="1356596"/>
          </a:xfrm>
        </p:grpSpPr>
        <p:sp>
          <p:nvSpPr>
            <p:cNvPr id="15" name="Arrow: Bent-Up 14">
              <a:extLst>
                <a:ext uri="{FF2B5EF4-FFF2-40B4-BE49-F238E27FC236}">
                  <a16:creationId xmlns:a16="http://schemas.microsoft.com/office/drawing/2014/main" id="{20D80EFC-C236-7358-67C9-A807BF7EB942}"/>
                </a:ext>
              </a:extLst>
            </p:cNvPr>
            <p:cNvSpPr/>
            <p:nvPr/>
          </p:nvSpPr>
          <p:spPr>
            <a:xfrm>
              <a:off x="8507900" y="2575619"/>
              <a:ext cx="2493034" cy="953219"/>
            </a:xfrm>
            <a:prstGeom prst="bentUpArrow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5583D9F-FE3D-38F1-56CA-33E8A5E12AE8}"/>
                </a:ext>
              </a:extLst>
            </p:cNvPr>
            <p:cNvSpPr txBox="1"/>
            <p:nvPr/>
          </p:nvSpPr>
          <p:spPr>
            <a:xfrm>
              <a:off x="9998277" y="2172242"/>
              <a:ext cx="20053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Bell MT" panose="02020503060305020303" pitchFamily="18" charset="0"/>
                </a:rPr>
                <a:t>Top Customer.</a:t>
              </a:r>
              <a:endParaRPr lang="en-IN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7C320CB-1747-61D5-A709-B22C8CBD9CCF}"/>
              </a:ext>
            </a:extLst>
          </p:cNvPr>
          <p:cNvGrpSpPr/>
          <p:nvPr/>
        </p:nvGrpSpPr>
        <p:grpSpPr>
          <a:xfrm>
            <a:off x="356751" y="4275083"/>
            <a:ext cx="3022931" cy="1506069"/>
            <a:chOff x="356751" y="4275083"/>
            <a:chExt cx="3022931" cy="1506069"/>
          </a:xfrm>
        </p:grpSpPr>
        <p:sp>
          <p:nvSpPr>
            <p:cNvPr id="25" name="Arrow: Bent 24">
              <a:extLst>
                <a:ext uri="{FF2B5EF4-FFF2-40B4-BE49-F238E27FC236}">
                  <a16:creationId xmlns:a16="http://schemas.microsoft.com/office/drawing/2014/main" id="{54C5A38F-66D4-5F68-9389-8A0F280AD549}"/>
                </a:ext>
              </a:extLst>
            </p:cNvPr>
            <p:cNvSpPr/>
            <p:nvPr/>
          </p:nvSpPr>
          <p:spPr>
            <a:xfrm>
              <a:off x="1050466" y="4275083"/>
              <a:ext cx="2329216" cy="862641"/>
            </a:xfrm>
            <a:prstGeom prst="bentArrow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A071B80-550D-956C-E3CE-E21DE051609A}"/>
                </a:ext>
              </a:extLst>
            </p:cNvPr>
            <p:cNvSpPr txBox="1"/>
            <p:nvPr/>
          </p:nvSpPr>
          <p:spPr>
            <a:xfrm>
              <a:off x="356751" y="5134821"/>
              <a:ext cx="244376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Bell MT" panose="02020503060305020303" pitchFamily="18" charset="0"/>
                </a:rPr>
                <a:t>Revenue Generated Category wise.</a:t>
              </a:r>
              <a:endParaRPr lang="en-IN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27FCDCF-9EA0-FA64-917B-0A7BD300A2BF}"/>
              </a:ext>
            </a:extLst>
          </p:cNvPr>
          <p:cNvGrpSpPr/>
          <p:nvPr/>
        </p:nvGrpSpPr>
        <p:grpSpPr>
          <a:xfrm>
            <a:off x="7951923" y="3075057"/>
            <a:ext cx="4406707" cy="1781612"/>
            <a:chOff x="7951923" y="3075057"/>
            <a:chExt cx="4406707" cy="1781612"/>
          </a:xfrm>
        </p:grpSpPr>
        <p:sp>
          <p:nvSpPr>
            <p:cNvPr id="30" name="Arrow: Bent-Up 29">
              <a:extLst>
                <a:ext uri="{FF2B5EF4-FFF2-40B4-BE49-F238E27FC236}">
                  <a16:creationId xmlns:a16="http://schemas.microsoft.com/office/drawing/2014/main" id="{28BCD4A6-DA61-582A-BBBC-2FE82CAA2DF8}"/>
                </a:ext>
              </a:extLst>
            </p:cNvPr>
            <p:cNvSpPr/>
            <p:nvPr/>
          </p:nvSpPr>
          <p:spPr>
            <a:xfrm>
              <a:off x="7951923" y="3704928"/>
              <a:ext cx="3529836" cy="1151741"/>
            </a:xfrm>
            <a:prstGeom prst="bentUpArrow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9A03295-F8AC-BAC1-6430-4B60C23DBFB0}"/>
                </a:ext>
              </a:extLst>
            </p:cNvPr>
            <p:cNvSpPr txBox="1"/>
            <p:nvPr/>
          </p:nvSpPr>
          <p:spPr>
            <a:xfrm>
              <a:off x="9872296" y="3075057"/>
              <a:ext cx="248633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>
                  <a:latin typeface="Bell MT" panose="02020503060305020303" pitchFamily="18" charset="0"/>
                </a:rPr>
                <a:t>Revenue &amp; Units sold , Product Wise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2707940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6F69F-0EF0-3095-0446-F27FF0CF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082" y="759125"/>
            <a:ext cx="8893835" cy="2881223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Bell MT" panose="02020503060305020303" pitchFamily="18" charset="0"/>
              </a:rPr>
              <a:t>Interaction with Dashboard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CFF027-9C5F-2986-91E3-B3AA814B56EB}"/>
              </a:ext>
            </a:extLst>
          </p:cNvPr>
          <p:cNvSpPr txBox="1"/>
          <p:nvPr/>
        </p:nvSpPr>
        <p:spPr>
          <a:xfrm>
            <a:off x="1751162" y="3519578"/>
            <a:ext cx="8893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Bell MT" panose="02020503060305020303" pitchFamily="18" charset="0"/>
              </a:rPr>
              <a:t>You can Interact with dashboard to get a specific visual from a category as per requirement.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8006C0-47FE-8C89-3D09-918448D1B6A6}"/>
              </a:ext>
            </a:extLst>
          </p:cNvPr>
          <p:cNvGrpSpPr/>
          <p:nvPr/>
        </p:nvGrpSpPr>
        <p:grpSpPr>
          <a:xfrm>
            <a:off x="215152" y="923858"/>
            <a:ext cx="11761694" cy="4921130"/>
            <a:chOff x="143435" y="759125"/>
            <a:chExt cx="11761694" cy="4921130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E2BDC71-718F-5145-E4A2-6059E2F08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3435" y="759125"/>
              <a:ext cx="9014459" cy="4921130"/>
            </a:xfrm>
            <a:prstGeom prst="rect">
              <a:avLst/>
            </a:prstGeom>
          </p:spPr>
        </p:pic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4F5B7D-3860-6867-3A57-1B80B6E382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1647" y="2895600"/>
              <a:ext cx="923365" cy="13716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AB12965-D0AF-BC4B-278D-DB33562F77D4}"/>
                </a:ext>
              </a:extLst>
            </p:cNvPr>
            <p:cNvSpPr txBox="1"/>
            <p:nvPr/>
          </p:nvSpPr>
          <p:spPr>
            <a:xfrm>
              <a:off x="9395012" y="2187389"/>
              <a:ext cx="2510117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sto MT" panose="02040603050505030304" pitchFamily="18" charset="0"/>
                </a:rPr>
                <a:t>It will filter all the visuals according to the product performance.</a:t>
              </a:r>
              <a:endParaRPr lang="en-IN" dirty="0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BF4575D-7939-6C93-8725-8CFA3386C9A4}"/>
              </a:ext>
            </a:extLst>
          </p:cNvPr>
          <p:cNvSpPr/>
          <p:nvPr/>
        </p:nvSpPr>
        <p:spPr>
          <a:xfrm>
            <a:off x="4258235" y="2159608"/>
            <a:ext cx="4778189" cy="1613647"/>
          </a:xfrm>
          <a:prstGeom prst="rect">
            <a:avLst/>
          </a:prstGeom>
          <a:solidFill>
            <a:schemeClr val="bg1">
              <a:alpha val="50000"/>
            </a:schemeClr>
          </a:solidFill>
          <a:ln w="38100">
            <a:solidFill>
              <a:schemeClr val="tx1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801A6A5-8E21-491B-0594-AAFA9278FBA7}"/>
              </a:ext>
            </a:extLst>
          </p:cNvPr>
          <p:cNvGrpSpPr/>
          <p:nvPr/>
        </p:nvGrpSpPr>
        <p:grpSpPr>
          <a:xfrm>
            <a:off x="628713" y="237852"/>
            <a:ext cx="11563287" cy="6620148"/>
            <a:chOff x="565960" y="202879"/>
            <a:chExt cx="11563287" cy="6620148"/>
          </a:xfrm>
        </p:grpSpPr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B2D9E7C7-F514-420E-AE87-05DE602EE381}"/>
                </a:ext>
              </a:extLst>
            </p:cNvPr>
            <p:cNvSpPr/>
            <p:nvPr/>
          </p:nvSpPr>
          <p:spPr>
            <a:xfrm>
              <a:off x="9054352" y="1013012"/>
              <a:ext cx="923365" cy="358588"/>
            </a:xfrm>
            <a:prstGeom prst="rightArrow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963EFCC-61F9-3EBA-957C-0B8C62DB1DF9}"/>
                </a:ext>
              </a:extLst>
            </p:cNvPr>
            <p:cNvSpPr txBox="1"/>
            <p:nvPr/>
          </p:nvSpPr>
          <p:spPr>
            <a:xfrm>
              <a:off x="9888071" y="578201"/>
              <a:ext cx="224117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sto MT" panose="02040603050505030304" pitchFamily="18" charset="0"/>
                </a:rPr>
                <a:t>Selected Product Revenue Performance by Month </a:t>
              </a:r>
              <a:endParaRPr lang="en-IN" dirty="0"/>
            </a:p>
          </p:txBody>
        </p:sp>
        <p:sp>
          <p:nvSpPr>
            <p:cNvPr id="25" name="Arrow: Down 24">
              <a:extLst>
                <a:ext uri="{FF2B5EF4-FFF2-40B4-BE49-F238E27FC236}">
                  <a16:creationId xmlns:a16="http://schemas.microsoft.com/office/drawing/2014/main" id="{6BF0986B-0D74-839F-C105-3129E5EB7B26}"/>
                </a:ext>
              </a:extLst>
            </p:cNvPr>
            <p:cNvSpPr/>
            <p:nvPr/>
          </p:nvSpPr>
          <p:spPr>
            <a:xfrm>
              <a:off x="4406744" y="3738282"/>
              <a:ext cx="295836" cy="2383934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4FCF79-AB88-3453-D21F-E1F04B8BD2A5}"/>
                </a:ext>
              </a:extLst>
            </p:cNvPr>
            <p:cNvSpPr txBox="1"/>
            <p:nvPr/>
          </p:nvSpPr>
          <p:spPr>
            <a:xfrm>
              <a:off x="4244787" y="6126712"/>
              <a:ext cx="377862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Top customer as per 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sto MT" panose="02040603050505030304" pitchFamily="18" charset="0"/>
                </a:rPr>
                <a:t>Selected Product</a:t>
              </a:r>
              <a:endParaRPr lang="en-IN" dirty="0"/>
            </a:p>
          </p:txBody>
        </p:sp>
        <p:cxnSp>
          <p:nvCxnSpPr>
            <p:cNvPr id="30" name="Connector: Elbow 29">
              <a:extLst>
                <a:ext uri="{FF2B5EF4-FFF2-40B4-BE49-F238E27FC236}">
                  <a16:creationId xmlns:a16="http://schemas.microsoft.com/office/drawing/2014/main" id="{9D0346DF-DF6F-287B-7060-E5EA8A7E7C06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2716306" y="394444"/>
              <a:ext cx="2483774" cy="2471689"/>
            </a:xfrm>
            <a:prstGeom prst="bentConnector3">
              <a:avLst>
                <a:gd name="adj1" fmla="val 68407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3DD4F48D-2E29-C644-574B-82D14D42034E}"/>
                </a:ext>
              </a:extLst>
            </p:cNvPr>
            <p:cNvSpPr txBox="1"/>
            <p:nvPr/>
          </p:nvSpPr>
          <p:spPr>
            <a:xfrm>
              <a:off x="5200080" y="202879"/>
              <a:ext cx="37735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Selected </a:t>
              </a:r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sto MT" panose="02040603050505030304" pitchFamily="18" charset="0"/>
                </a:rPr>
                <a:t>Product Sales as per region</a:t>
              </a:r>
              <a:endParaRPr lang="en-IN" dirty="0"/>
            </a:p>
          </p:txBody>
        </p:sp>
        <p:sp>
          <p:nvSpPr>
            <p:cNvPr id="52" name="Arrow: Up 51">
              <a:extLst>
                <a:ext uri="{FF2B5EF4-FFF2-40B4-BE49-F238E27FC236}">
                  <a16:creationId xmlns:a16="http://schemas.microsoft.com/office/drawing/2014/main" id="{DC629776-7A44-5740-DF54-B07DFD7C5B93}"/>
                </a:ext>
              </a:extLst>
            </p:cNvPr>
            <p:cNvSpPr/>
            <p:nvPr/>
          </p:nvSpPr>
          <p:spPr>
            <a:xfrm>
              <a:off x="2234748" y="5765948"/>
              <a:ext cx="152400" cy="646331"/>
            </a:xfrm>
            <a:prstGeom prst="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989E10C-E8A7-FD28-D958-BDF5ECF7451D}"/>
                </a:ext>
              </a:extLst>
            </p:cNvPr>
            <p:cNvSpPr txBox="1"/>
            <p:nvPr/>
          </p:nvSpPr>
          <p:spPr>
            <a:xfrm>
              <a:off x="565960" y="5899697"/>
              <a:ext cx="225179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sto MT" panose="02040603050505030304" pitchFamily="18" charset="0"/>
                </a:rPr>
                <a:t>Product Contribution in Category.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7460845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913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7500"/>
                            </p:stCondLst>
                            <p:childTnLst>
                              <p:par>
                                <p:cTn id="16" presetID="2" presetClass="exit" presetSubtype="4" fill="hold" grpId="1" nodeType="afterEffect">
                                  <p:stCondLst>
                                    <p:cond delay="2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 calcmode="lin" valueType="num">
                                      <p:cBhvr additive="base">
                                        <p:cTn id="17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750"/>
                            </p:stCondLst>
                            <p:childTnLst>
                              <p:par>
                                <p:cTn id="21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9" grpId="0"/>
      <p:bldP spid="9" grpId="1"/>
      <p:bldP spid="24" grpId="0" animBg="1"/>
      <p:bldP spid="24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9568D4A3-6460-8C3D-7F59-77109FD2A1E6}"/>
              </a:ext>
            </a:extLst>
          </p:cNvPr>
          <p:cNvGrpSpPr/>
          <p:nvPr/>
        </p:nvGrpSpPr>
        <p:grpSpPr>
          <a:xfrm>
            <a:off x="313765" y="206544"/>
            <a:ext cx="8234264" cy="5980446"/>
            <a:chOff x="313765" y="206544"/>
            <a:chExt cx="8234264" cy="59804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3AD6A0-DF58-8400-8FD4-23B47663D1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765" y="206544"/>
              <a:ext cx="8234264" cy="4975056"/>
            </a:xfrm>
            <a:prstGeom prst="rect">
              <a:avLst/>
            </a:prstGeom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6F5A004B-6C01-63F0-A82A-D3E12CA0FC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43317" y="3747248"/>
              <a:ext cx="1138518" cy="2348752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triangle"/>
            </a:ln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88CEE8-5FCB-132D-9B90-2356A43EA464}"/>
                </a:ext>
              </a:extLst>
            </p:cNvPr>
            <p:cNvSpPr txBox="1"/>
            <p:nvPr/>
          </p:nvSpPr>
          <p:spPr>
            <a:xfrm>
              <a:off x="2581835" y="5817658"/>
              <a:ext cx="42940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Visuals As per Product Category. </a:t>
              </a:r>
              <a:endParaRPr lang="en-IN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B168A6F-438E-4EF6-0AB3-151A59B6690B}"/>
              </a:ext>
            </a:extLst>
          </p:cNvPr>
          <p:cNvGrpSpPr/>
          <p:nvPr/>
        </p:nvGrpSpPr>
        <p:grpSpPr>
          <a:xfrm>
            <a:off x="112657" y="114596"/>
            <a:ext cx="9232449" cy="5703062"/>
            <a:chOff x="112657" y="114596"/>
            <a:chExt cx="9232449" cy="5703062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AE6427-A209-3A69-FA30-CC91A8D1C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657" y="114596"/>
              <a:ext cx="9232449" cy="5158951"/>
            </a:xfrm>
            <a:prstGeom prst="rect">
              <a:avLst/>
            </a:prstGeom>
          </p:spPr>
        </p:pic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FCD39FC-B2F0-2BEF-6FF6-1CD017DB826D}"/>
                </a:ext>
              </a:extLst>
            </p:cNvPr>
            <p:cNvCxnSpPr/>
            <p:nvPr/>
          </p:nvCxnSpPr>
          <p:spPr>
            <a:xfrm flipH="1" flipV="1">
              <a:off x="1703294" y="2017059"/>
              <a:ext cx="2079812" cy="366656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CEC3CCA-2F08-298C-EFA7-090A860B913A}"/>
                </a:ext>
              </a:extLst>
            </p:cNvPr>
            <p:cNvSpPr txBox="1"/>
            <p:nvPr/>
          </p:nvSpPr>
          <p:spPr>
            <a:xfrm>
              <a:off x="3783106" y="5448326"/>
              <a:ext cx="259976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Visuals as per Region</a:t>
              </a:r>
              <a:endParaRPr lang="en-IN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11210EE-4AE2-39DB-BC2A-B0AE484FBCFA}"/>
              </a:ext>
            </a:extLst>
          </p:cNvPr>
          <p:cNvGrpSpPr/>
          <p:nvPr/>
        </p:nvGrpSpPr>
        <p:grpSpPr>
          <a:xfrm>
            <a:off x="348627" y="323866"/>
            <a:ext cx="11880873" cy="5401845"/>
            <a:chOff x="348627" y="323866"/>
            <a:chExt cx="11880873" cy="54018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B8E12ED-0069-8F48-38FF-17F0644EC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8627" y="323866"/>
              <a:ext cx="9632973" cy="5401845"/>
            </a:xfrm>
            <a:prstGeom prst="rect">
              <a:avLst/>
            </a:prstGeom>
          </p:spPr>
        </p:pic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BA1FEBF-333C-8653-9F32-E285EE1A7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4523" y="2106706"/>
              <a:ext cx="1349006" cy="290456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22E72B-84CA-0E6B-4B2F-85784A456AE9}"/>
                </a:ext>
              </a:extLst>
            </p:cNvPr>
            <p:cNvSpPr txBox="1"/>
            <p:nvPr/>
          </p:nvSpPr>
          <p:spPr>
            <a:xfrm>
              <a:off x="9981600" y="5011271"/>
              <a:ext cx="224790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Visuals as per Customer</a:t>
              </a:r>
              <a:endParaRPr lang="en-IN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5DE6B1-8C9B-DDC4-ED16-42720085BEDE}"/>
              </a:ext>
            </a:extLst>
          </p:cNvPr>
          <p:cNvGrpSpPr/>
          <p:nvPr/>
        </p:nvGrpSpPr>
        <p:grpSpPr>
          <a:xfrm>
            <a:off x="466164" y="323866"/>
            <a:ext cx="11613179" cy="5401844"/>
            <a:chOff x="466164" y="323866"/>
            <a:chExt cx="11613179" cy="540184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99AD6966-AABF-A86C-3850-8B7E14B5F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6164" y="323866"/>
              <a:ext cx="9631589" cy="5401844"/>
            </a:xfrm>
            <a:prstGeom prst="rect">
              <a:avLst/>
            </a:prstGeom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583EC4D-3BF3-F4B5-F624-E1A7A30872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1976" y="636494"/>
              <a:ext cx="1797820" cy="2438400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3784E96-A787-C328-6507-53A2D06F97F5}"/>
                </a:ext>
              </a:extLst>
            </p:cNvPr>
            <p:cNvSpPr txBox="1"/>
            <p:nvPr/>
          </p:nvSpPr>
          <p:spPr>
            <a:xfrm>
              <a:off x="10156413" y="3108948"/>
              <a:ext cx="192293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dirty="0"/>
                <a:t>Performance By Month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707593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7DE45C-9313-2565-6718-1A6EFB215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293" y="268941"/>
            <a:ext cx="11770659" cy="2339788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Tableau: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sto MT" panose="0204060305050503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Open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.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twbx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00FFFF"/>
                </a:highlight>
                <a:latin typeface="Calisto MT" panose="0204060305050503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file in Tableau Public Desktop in presentation</a:t>
            </a:r>
            <a:r>
              <a:rPr kumimoji="0" lang="en-US" alt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mode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 ( free ), but need</a:t>
            </a:r>
            <a:r>
              <a:rPr lang="en-US" altLang="en-US" sz="1800" dirty="0">
                <a:latin typeface="Calisto MT" panose="02040603050505030304" pitchFamily="18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sto MT" panose="02040603050505030304" pitchFamily="18" charset="0"/>
              </a:rPr>
              <a:t>license for Tableau Private.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Calisto MT" panose="02040603050505030304" pitchFamily="18" charset="0"/>
              </a:rPr>
              <a:t> Or view online using Tableau Public ( free ) / Tableau Server ( need to purchase )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b="1" dirty="0">
                <a:latin typeface="Calisto MT" panose="02040603050505030304" pitchFamily="18" charset="0"/>
              </a:rPr>
              <a:t>STEPS : </a:t>
            </a:r>
            <a:r>
              <a:rPr lang="en-US" altLang="en-US" sz="1800" dirty="0">
                <a:latin typeface="Calisto MT" panose="02040603050505030304" pitchFamily="18" charset="0"/>
              </a:rPr>
              <a:t>Just Double click on the </a:t>
            </a:r>
            <a:r>
              <a:rPr lang="en-US" altLang="en-US" sz="1800" dirty="0">
                <a:highlight>
                  <a:srgbClr val="00FFFF"/>
                </a:highlight>
                <a:latin typeface="Calisto MT" panose="02040603050505030304" pitchFamily="18" charset="0"/>
              </a:rPr>
              <a:t>.</a:t>
            </a:r>
            <a:r>
              <a:rPr lang="en-US" altLang="en-US" sz="1800" dirty="0" err="1">
                <a:highlight>
                  <a:srgbClr val="00FFFF"/>
                </a:highlight>
                <a:latin typeface="Calisto MT" panose="02040603050505030304" pitchFamily="18" charset="0"/>
              </a:rPr>
              <a:t>twbx</a:t>
            </a:r>
            <a:r>
              <a:rPr lang="en-US" altLang="en-US" sz="1800" dirty="0">
                <a:latin typeface="Calisto MT" panose="02040603050505030304" pitchFamily="18" charset="0"/>
              </a:rPr>
              <a:t> file </a:t>
            </a:r>
            <a:r>
              <a:rPr lang="en-US" altLang="en-US" sz="1800" b="1" dirty="0">
                <a:latin typeface="Calisto MT" panose="02040603050505030304" pitchFamily="18" charset="0"/>
              </a:rPr>
              <a:t>after Installing Tableau </a:t>
            </a:r>
            <a:r>
              <a:rPr lang="en-US" altLang="en-US" sz="1800" dirty="0">
                <a:latin typeface="Calisto MT" panose="02040603050505030304" pitchFamily="18" charset="0"/>
              </a:rPr>
              <a:t>&amp; open Presentation mode ( Press F7 ) 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BF9068C-0FDE-0E4D-87FE-6BA6C8D337CB}"/>
              </a:ext>
            </a:extLst>
          </p:cNvPr>
          <p:cNvGrpSpPr/>
          <p:nvPr/>
        </p:nvGrpSpPr>
        <p:grpSpPr>
          <a:xfrm>
            <a:off x="340658" y="3514113"/>
            <a:ext cx="5513296" cy="3074946"/>
            <a:chOff x="340658" y="3514113"/>
            <a:chExt cx="5513296" cy="307494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227B23A-F828-A038-A7AC-993278AC4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3043"/>
            <a:stretch>
              <a:fillRect/>
            </a:stretch>
          </p:blipFill>
          <p:spPr>
            <a:xfrm>
              <a:off x="340658" y="3514113"/>
              <a:ext cx="5513296" cy="2239743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76200" cap="sq">
              <a:solidFill>
                <a:srgbClr val="292929"/>
              </a:solidFill>
              <a:miter lim="800000"/>
            </a:ln>
            <a:effectLst>
              <a:reflection blurRad="12700" stA="28000" endPos="28000" dist="5000" dir="5400000" sy="-100000" algn="bl" rotWithShape="0"/>
            </a:effectLst>
            <a:scene3d>
              <a:camera prst="orthographicFront"/>
              <a:lightRig rig="threePt" dir="t">
                <a:rot lat="0" lon="0" rev="2700000"/>
              </a:lightRig>
            </a:scene3d>
            <a:sp3d>
              <a:bevelT h="38100"/>
              <a:contourClr>
                <a:srgbClr val="C0C0C0"/>
              </a:contourClr>
            </a:sp3d>
          </p:spPr>
        </p:pic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F329C72C-8B65-A842-E10A-DF4ADF32CBBB}"/>
                </a:ext>
              </a:extLst>
            </p:cNvPr>
            <p:cNvCxnSpPr/>
            <p:nvPr/>
          </p:nvCxnSpPr>
          <p:spPr>
            <a:xfrm flipH="1" flipV="1">
              <a:off x="2411506" y="4383742"/>
              <a:ext cx="878541" cy="2205317"/>
            </a:xfrm>
            <a:prstGeom prst="straightConnector1">
              <a:avLst/>
            </a:prstGeom>
            <a:ln w="57150">
              <a:solidFill>
                <a:srgbClr val="00B0F0"/>
              </a:solidFill>
              <a:tailEnd type="triangle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514BC2D-6B25-33B7-8826-08524F0B83FC}"/>
              </a:ext>
            </a:extLst>
          </p:cNvPr>
          <p:cNvGrpSpPr/>
          <p:nvPr/>
        </p:nvGrpSpPr>
        <p:grpSpPr>
          <a:xfrm>
            <a:off x="6096000" y="2381250"/>
            <a:ext cx="5832683" cy="4207809"/>
            <a:chOff x="6096000" y="2381250"/>
            <a:chExt cx="5832683" cy="420780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50CDA4A-B775-8709-8DCE-F7BB52F1F57D}"/>
                </a:ext>
              </a:extLst>
            </p:cNvPr>
            <p:cNvGrpSpPr/>
            <p:nvPr/>
          </p:nvGrpSpPr>
          <p:grpSpPr>
            <a:xfrm>
              <a:off x="6096000" y="2900204"/>
              <a:ext cx="5832683" cy="3688855"/>
              <a:chOff x="6117269" y="2904461"/>
              <a:chExt cx="5832683" cy="348280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BF03F55E-7AB0-4E4D-1648-CDB1CC0D56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17269" y="3110753"/>
                <a:ext cx="5832683" cy="3276515"/>
              </a:xfrm>
              <a:prstGeom prst="rect">
                <a:avLst/>
              </a:prstGeom>
              <a:ln>
                <a:noFill/>
              </a:ln>
              <a:effectLst>
                <a:outerShdw blurRad="190500" algn="tl" rotWithShape="0">
                  <a:srgbClr val="000000">
                    <a:alpha val="70000"/>
                  </a:srgbClr>
                </a:outerShdw>
              </a:effectLst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7B9BD383-D0BF-35E1-1D6B-4D2F901C83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51770" y="2904461"/>
                <a:ext cx="2178005" cy="1479281"/>
              </a:xfrm>
              <a:prstGeom prst="ellipse">
                <a:avLst/>
              </a:prstGeom>
              <a:ln w="190500" cap="rnd">
                <a:solidFill>
                  <a:srgbClr val="C8C6BD"/>
                </a:solidFill>
                <a:prstDash val="solid"/>
              </a:ln>
              <a:effectLst>
                <a:outerShdw blurRad="127000" algn="bl" rotWithShape="0">
                  <a:srgbClr val="000000"/>
                </a:outerShdw>
              </a:effectLst>
              <a:scene3d>
                <a:camera prst="perspectiveFront" fov="5400000"/>
                <a:lightRig rig="threePt" dir="t">
                  <a:rot lat="0" lon="0" rev="19200000"/>
                </a:lightRig>
              </a:scene3d>
              <a:sp3d extrusionH="25400">
                <a:bevelT w="304800" h="152400" prst="hardEdge"/>
                <a:extrusionClr>
                  <a:srgbClr val="000000"/>
                </a:extrusionClr>
              </a:sp3d>
            </p:spPr>
          </p:pic>
        </p:grp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B61A6D6-46EE-E275-FE9C-6D3E1F9AFE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82025" y="2381250"/>
              <a:ext cx="123825" cy="962025"/>
            </a:xfrm>
            <a:prstGeom prst="straightConnector1">
              <a:avLst/>
            </a:prstGeom>
            <a:ln w="38100">
              <a:solidFill>
                <a:srgbClr val="00B0F0"/>
              </a:solidFill>
              <a:tailEnd type="triangle"/>
            </a:ln>
            <a:effectLst>
              <a:glow rad="63500">
                <a:schemeClr val="accent4">
                  <a:satMod val="175000"/>
                  <a:alpha val="40000"/>
                </a:schemeClr>
              </a:glow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811223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768C04-DA83-F5BD-0AA1-BABDD94196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8628" y="1651655"/>
            <a:ext cx="7431100" cy="4178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397150-D743-9FD7-216A-0888BBD4D613}"/>
              </a:ext>
            </a:extLst>
          </p:cNvPr>
          <p:cNvSpPr txBox="1"/>
          <p:nvPr/>
        </p:nvSpPr>
        <p:spPr>
          <a:xfrm>
            <a:off x="3414712" y="358259"/>
            <a:ext cx="53625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Calisto MT" panose="02040603050505030304" pitchFamily="18" charset="0"/>
              </a:rPr>
              <a:t>Elements of dashboard </a:t>
            </a:r>
            <a:endParaRPr lang="en-IN" sz="4000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C675359-271F-FE78-8FE1-C98427FFAE77}"/>
              </a:ext>
            </a:extLst>
          </p:cNvPr>
          <p:cNvGrpSpPr/>
          <p:nvPr/>
        </p:nvGrpSpPr>
        <p:grpSpPr>
          <a:xfrm>
            <a:off x="104775" y="1555234"/>
            <a:ext cx="2581275" cy="683141"/>
            <a:chOff x="104775" y="1555234"/>
            <a:chExt cx="2581275" cy="683141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06012471-88AA-882B-1ABB-5A8E57970600}"/>
                </a:ext>
              </a:extLst>
            </p:cNvPr>
            <p:cNvSpPr/>
            <p:nvPr/>
          </p:nvSpPr>
          <p:spPr>
            <a:xfrm>
              <a:off x="1562100" y="1876425"/>
              <a:ext cx="1123950" cy="361950"/>
            </a:xfrm>
            <a:prstGeom prst="rightArrow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EE2897B-45B3-A959-D505-A179D2D215F0}"/>
                </a:ext>
              </a:extLst>
            </p:cNvPr>
            <p:cNvSpPr txBox="1"/>
            <p:nvPr/>
          </p:nvSpPr>
          <p:spPr>
            <a:xfrm>
              <a:off x="104775" y="1555234"/>
              <a:ext cx="234315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Total Quantity Sold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AF3CDC0-6C18-33A1-2D2D-8368FB2FD5C9}"/>
              </a:ext>
            </a:extLst>
          </p:cNvPr>
          <p:cNvGrpSpPr/>
          <p:nvPr/>
        </p:nvGrpSpPr>
        <p:grpSpPr>
          <a:xfrm>
            <a:off x="219075" y="862737"/>
            <a:ext cx="5438775" cy="1061829"/>
            <a:chOff x="219075" y="862737"/>
            <a:chExt cx="5438775" cy="1061829"/>
          </a:xfrm>
        </p:grpSpPr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3A761071-94F7-8D7F-9E5B-CE4228DC3D82}"/>
                </a:ext>
              </a:extLst>
            </p:cNvPr>
            <p:cNvCxnSpPr>
              <a:cxnSpLocks/>
            </p:cNvCxnSpPr>
            <p:nvPr/>
          </p:nvCxnSpPr>
          <p:spPr>
            <a:xfrm>
              <a:off x="2447925" y="1066145"/>
              <a:ext cx="3209925" cy="858421"/>
            </a:xfrm>
            <a:prstGeom prst="curvedConnector3">
              <a:avLst>
                <a:gd name="adj1" fmla="val 47329"/>
              </a:avLst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E0D85EC-7B83-5DA1-44B4-3641082435BC}"/>
                </a:ext>
              </a:extLst>
            </p:cNvPr>
            <p:cNvSpPr txBox="1"/>
            <p:nvPr/>
          </p:nvSpPr>
          <p:spPr>
            <a:xfrm>
              <a:off x="219075" y="862737"/>
              <a:ext cx="2466975" cy="6771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000" dirty="0">
                  <a:latin typeface="Bell MT" panose="02020503060305020303" pitchFamily="18" charset="0"/>
                </a:rPr>
                <a:t>Revenue Generated</a:t>
              </a:r>
            </a:p>
            <a:p>
              <a:endParaRPr lang="en-IN" dirty="0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D51EBD2-592B-15FC-E367-8D5E791CEACA}"/>
              </a:ext>
            </a:extLst>
          </p:cNvPr>
          <p:cNvGrpSpPr/>
          <p:nvPr/>
        </p:nvGrpSpPr>
        <p:grpSpPr>
          <a:xfrm>
            <a:off x="8401048" y="269037"/>
            <a:ext cx="3344876" cy="4008859"/>
            <a:chOff x="8401048" y="269037"/>
            <a:chExt cx="3344876" cy="4008859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C07EB175-E0F4-11AC-D4EA-F1DF1E140ADD}"/>
                </a:ext>
              </a:extLst>
            </p:cNvPr>
            <p:cNvSpPr/>
            <p:nvPr/>
          </p:nvSpPr>
          <p:spPr>
            <a:xfrm>
              <a:off x="8401048" y="1651655"/>
              <a:ext cx="1123951" cy="2626241"/>
            </a:xfrm>
            <a:prstGeom prst="ellipse">
              <a:avLst/>
            </a:prstGeom>
            <a:noFill/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1F86A61-D919-E5D7-B3D3-CE11D8B6FE71}"/>
                </a:ext>
              </a:extLst>
            </p:cNvPr>
            <p:cNvGrpSpPr/>
            <p:nvPr/>
          </p:nvGrpSpPr>
          <p:grpSpPr>
            <a:xfrm>
              <a:off x="9119385" y="269037"/>
              <a:ext cx="2626539" cy="1818853"/>
              <a:chOff x="9023337" y="216406"/>
              <a:chExt cx="2626539" cy="1818853"/>
            </a:xfrm>
          </p:grpSpPr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11EDBC53-5328-BD88-9341-8CED907D86C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23337" y="862737"/>
                <a:ext cx="611200" cy="1172522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8C07E01-8246-33CB-F233-818AD29C7B17}"/>
                  </a:ext>
                </a:extLst>
              </p:cNvPr>
              <p:cNvSpPr txBox="1"/>
              <p:nvPr/>
            </p:nvSpPr>
            <p:spPr>
              <a:xfrm>
                <a:off x="9328937" y="216406"/>
                <a:ext cx="2320939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dirty="0">
                    <a:latin typeface="Calisto MT" panose="02040603050505030304" pitchFamily="18" charset="0"/>
                  </a:rPr>
                  <a:t>Legend/scale &amp; meaning of color.</a:t>
                </a:r>
                <a:endParaRPr lang="en-IN" dirty="0"/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9CEDEF6-DB25-9F54-0C72-8ECE0A94E89D}"/>
              </a:ext>
            </a:extLst>
          </p:cNvPr>
          <p:cNvGrpSpPr/>
          <p:nvPr/>
        </p:nvGrpSpPr>
        <p:grpSpPr>
          <a:xfrm>
            <a:off x="9744074" y="2562225"/>
            <a:ext cx="1822439" cy="1683782"/>
            <a:chOff x="9744074" y="2562225"/>
            <a:chExt cx="1822439" cy="1683782"/>
          </a:xfrm>
        </p:grpSpPr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745BB42-1116-250F-D4D6-BE4321AC3813}"/>
                </a:ext>
              </a:extLst>
            </p:cNvPr>
            <p:cNvCxnSpPr/>
            <p:nvPr/>
          </p:nvCxnSpPr>
          <p:spPr>
            <a:xfrm flipH="1" flipV="1">
              <a:off x="9744074" y="2562225"/>
              <a:ext cx="1219201" cy="131445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6DF4488-8FA9-AA18-2545-6D53D3849D7C}"/>
                </a:ext>
              </a:extLst>
            </p:cNvPr>
            <p:cNvSpPr txBox="1"/>
            <p:nvPr/>
          </p:nvSpPr>
          <p:spPr>
            <a:xfrm>
              <a:off x="10442562" y="3876675"/>
              <a:ext cx="11239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Slide Bar</a:t>
              </a:r>
              <a:endParaRPr lang="en-IN" dirty="0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D473EDD-4C20-6C04-17AE-9832F1502816}"/>
              </a:ext>
            </a:extLst>
          </p:cNvPr>
          <p:cNvGrpSpPr/>
          <p:nvPr/>
        </p:nvGrpSpPr>
        <p:grpSpPr>
          <a:xfrm>
            <a:off x="377819" y="2810430"/>
            <a:ext cx="2405862" cy="923330"/>
            <a:chOff x="377819" y="2810430"/>
            <a:chExt cx="2405862" cy="923330"/>
          </a:xfrm>
        </p:grpSpPr>
        <p:sp>
          <p:nvSpPr>
            <p:cNvPr id="37" name="Arrow: Right 36">
              <a:extLst>
                <a:ext uri="{FF2B5EF4-FFF2-40B4-BE49-F238E27FC236}">
                  <a16:creationId xmlns:a16="http://schemas.microsoft.com/office/drawing/2014/main" id="{8967C0FD-CFA3-3B2B-2E9C-45A7A29F4FB5}"/>
                </a:ext>
              </a:extLst>
            </p:cNvPr>
            <p:cNvSpPr/>
            <p:nvPr/>
          </p:nvSpPr>
          <p:spPr>
            <a:xfrm>
              <a:off x="1933575" y="3115191"/>
              <a:ext cx="850106" cy="313809"/>
            </a:xfrm>
            <a:prstGeom prst="rightArrow">
              <a:avLst/>
            </a:prstGeom>
            <a:solidFill>
              <a:schemeClr val="dk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2A3D950-AA10-0A40-6EFB-677568FEB0E5}"/>
                </a:ext>
              </a:extLst>
            </p:cNvPr>
            <p:cNvSpPr txBox="1"/>
            <p:nvPr/>
          </p:nvSpPr>
          <p:spPr>
            <a:xfrm>
              <a:off x="377819" y="2810430"/>
              <a:ext cx="171926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Revenue per Month/Time series plot </a:t>
              </a:r>
              <a:endParaRPr lang="en-IN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D9F0A5D-A9EB-174A-13EA-E7E29A969FC4}"/>
              </a:ext>
            </a:extLst>
          </p:cNvPr>
          <p:cNvGrpSpPr/>
          <p:nvPr/>
        </p:nvGrpSpPr>
        <p:grpSpPr>
          <a:xfrm>
            <a:off x="3005586" y="5651971"/>
            <a:ext cx="4525274" cy="948160"/>
            <a:chOff x="3005586" y="5651971"/>
            <a:chExt cx="4525274" cy="948160"/>
          </a:xfrm>
        </p:grpSpPr>
        <p:sp>
          <p:nvSpPr>
            <p:cNvPr id="46" name="Arrow: Left-Up 45">
              <a:extLst>
                <a:ext uri="{FF2B5EF4-FFF2-40B4-BE49-F238E27FC236}">
                  <a16:creationId xmlns:a16="http://schemas.microsoft.com/office/drawing/2014/main" id="{D016293C-AC30-26E8-A110-D0545E277948}"/>
                </a:ext>
              </a:extLst>
            </p:cNvPr>
            <p:cNvSpPr/>
            <p:nvPr/>
          </p:nvSpPr>
          <p:spPr>
            <a:xfrm rot="2557283">
              <a:off x="4715217" y="5651971"/>
              <a:ext cx="584998" cy="548811"/>
            </a:xfrm>
            <a:prstGeom prst="leftUpArrow">
              <a:avLst>
                <a:gd name="adj1" fmla="val 8650"/>
                <a:gd name="adj2" fmla="val 9951"/>
                <a:gd name="adj3" fmla="val 16748"/>
              </a:avLst>
            </a:prstGeom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AE525FD-D61D-9FB2-3D71-20928E0C68AE}"/>
                </a:ext>
              </a:extLst>
            </p:cNvPr>
            <p:cNvSpPr txBox="1"/>
            <p:nvPr/>
          </p:nvSpPr>
          <p:spPr>
            <a:xfrm>
              <a:off x="3005586" y="6230799"/>
              <a:ext cx="45252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You can change the view of dashboard here.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6770601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26FF631-5325-101B-34F1-1B90C10FD0CC}"/>
              </a:ext>
            </a:extLst>
          </p:cNvPr>
          <p:cNvSpPr txBox="1">
            <a:spLocks/>
          </p:cNvSpPr>
          <p:nvPr/>
        </p:nvSpPr>
        <p:spPr>
          <a:xfrm>
            <a:off x="2252932" y="76457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E1E342-F97D-F8FE-746F-CB0872998C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0" r="14300"/>
          <a:stretch>
            <a:fillRect/>
          </a:stretch>
        </p:blipFill>
        <p:spPr>
          <a:xfrm>
            <a:off x="2252932" y="764576"/>
            <a:ext cx="7366509" cy="48521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0084820-5F36-8A00-88EA-088C1B8A3593}"/>
              </a:ext>
            </a:extLst>
          </p:cNvPr>
          <p:cNvGrpSpPr/>
          <p:nvPr/>
        </p:nvGrpSpPr>
        <p:grpSpPr>
          <a:xfrm>
            <a:off x="337149" y="1448828"/>
            <a:ext cx="2069621" cy="1200329"/>
            <a:chOff x="337149" y="1448828"/>
            <a:chExt cx="2069621" cy="1200329"/>
          </a:xfrm>
        </p:grpSpPr>
        <p:sp>
          <p:nvSpPr>
            <p:cNvPr id="7" name="Arrow: Left 6">
              <a:extLst>
                <a:ext uri="{FF2B5EF4-FFF2-40B4-BE49-F238E27FC236}">
                  <a16:creationId xmlns:a16="http://schemas.microsoft.com/office/drawing/2014/main" id="{B05A7EDC-0029-585A-0822-72EE7A1B9506}"/>
                </a:ext>
              </a:extLst>
            </p:cNvPr>
            <p:cNvSpPr/>
            <p:nvPr/>
          </p:nvSpPr>
          <p:spPr>
            <a:xfrm rot="10800000">
              <a:off x="1440611" y="1816079"/>
              <a:ext cx="966159" cy="232913"/>
            </a:xfrm>
            <a:prstGeom prst="leftArrow">
              <a:avLst/>
            </a:prstGeom>
            <a:solidFill>
              <a:schemeClr val="tx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6B0964E-4837-8DF3-FF90-FFB20ADFC5EA}"/>
                </a:ext>
              </a:extLst>
            </p:cNvPr>
            <p:cNvSpPr txBox="1"/>
            <p:nvPr/>
          </p:nvSpPr>
          <p:spPr>
            <a:xfrm>
              <a:off x="337149" y="1448828"/>
              <a:ext cx="1767695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Category Wise Revenue generated per month</a:t>
              </a:r>
              <a:endParaRPr lang="en-IN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645F37-2D6E-15B2-396B-AF23801A7C91}"/>
              </a:ext>
            </a:extLst>
          </p:cNvPr>
          <p:cNvGrpSpPr/>
          <p:nvPr/>
        </p:nvGrpSpPr>
        <p:grpSpPr>
          <a:xfrm>
            <a:off x="5633049" y="79143"/>
            <a:ext cx="3079630" cy="1344215"/>
            <a:chOff x="5633049" y="79143"/>
            <a:chExt cx="3079630" cy="1344215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872C2FA-6A98-8F01-D1B1-71A38E0B4152}"/>
                </a:ext>
              </a:extLst>
            </p:cNvPr>
            <p:cNvCxnSpPr/>
            <p:nvPr/>
          </p:nvCxnSpPr>
          <p:spPr>
            <a:xfrm flipH="1">
              <a:off x="5736566" y="422694"/>
              <a:ext cx="1337094" cy="1000664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59FD4C6-12F5-6F47-0EDD-980020942D9C}"/>
                </a:ext>
              </a:extLst>
            </p:cNvPr>
            <p:cNvSpPr txBox="1"/>
            <p:nvPr/>
          </p:nvSpPr>
          <p:spPr>
            <a:xfrm>
              <a:off x="5633049" y="79143"/>
              <a:ext cx="307963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It reset the alignment of map</a:t>
              </a:r>
              <a:endParaRPr lang="en-IN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4EBD84B-31DB-0B94-F849-FD3E02DA1148}"/>
              </a:ext>
            </a:extLst>
          </p:cNvPr>
          <p:cNvGrpSpPr/>
          <p:nvPr/>
        </p:nvGrpSpPr>
        <p:grpSpPr>
          <a:xfrm>
            <a:off x="86265" y="1744359"/>
            <a:ext cx="11809559" cy="2765931"/>
            <a:chOff x="86265" y="1744359"/>
            <a:chExt cx="11809559" cy="2765931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B1007EC-AA51-CCA1-AA7C-9076FFBCB9E3}"/>
                </a:ext>
              </a:extLst>
            </p:cNvPr>
            <p:cNvGrpSpPr/>
            <p:nvPr/>
          </p:nvGrpSpPr>
          <p:grpSpPr>
            <a:xfrm>
              <a:off x="86265" y="3586960"/>
              <a:ext cx="2320505" cy="923330"/>
              <a:chOff x="86265" y="3586960"/>
              <a:chExt cx="2320505" cy="923330"/>
            </a:xfrm>
          </p:grpSpPr>
          <p:sp>
            <p:nvSpPr>
              <p:cNvPr id="14" name="Arrow: Left 13">
                <a:extLst>
                  <a:ext uri="{FF2B5EF4-FFF2-40B4-BE49-F238E27FC236}">
                    <a16:creationId xmlns:a16="http://schemas.microsoft.com/office/drawing/2014/main" id="{24F5123C-46B9-480B-695F-8F98FF413296}"/>
                  </a:ext>
                </a:extLst>
              </p:cNvPr>
              <p:cNvSpPr/>
              <p:nvPr/>
            </p:nvSpPr>
            <p:spPr>
              <a:xfrm rot="10800000">
                <a:off x="1669570" y="4087727"/>
                <a:ext cx="737200" cy="189781"/>
              </a:xfrm>
              <a:prstGeom prst="leftArrow">
                <a:avLst/>
              </a:prstGeom>
              <a:solidFill>
                <a:schemeClr val="tx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C2AE9E-D268-7FF7-94C4-1B39FAE0FB19}"/>
                  </a:ext>
                </a:extLst>
              </p:cNvPr>
              <p:cNvSpPr txBox="1"/>
              <p:nvPr/>
            </p:nvSpPr>
            <p:spPr>
              <a:xfrm>
                <a:off x="86265" y="3586960"/>
                <a:ext cx="1828799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en-US" dirty="0">
                    <a:latin typeface="Calisto MT" panose="02040603050505030304" pitchFamily="18" charset="0"/>
                  </a:rPr>
                  <a:t>Top customer by Revenue &amp; Category</a:t>
                </a:r>
                <a:endParaRPr lang="en-IN" dirty="0"/>
              </a:p>
            </p:txBody>
          </p:sp>
        </p:grpSp>
        <p:sp>
          <p:nvSpPr>
            <p:cNvPr id="17" name="Arrow: Left 16">
              <a:extLst>
                <a:ext uri="{FF2B5EF4-FFF2-40B4-BE49-F238E27FC236}">
                  <a16:creationId xmlns:a16="http://schemas.microsoft.com/office/drawing/2014/main" id="{CEF7EFF1-1C47-2788-F2A6-5CD5EBD6A5E0}"/>
                </a:ext>
              </a:extLst>
            </p:cNvPr>
            <p:cNvSpPr/>
            <p:nvPr/>
          </p:nvSpPr>
          <p:spPr>
            <a:xfrm>
              <a:off x="9317966" y="2364074"/>
              <a:ext cx="1242204" cy="336430"/>
            </a:xfrm>
            <a:prstGeom prst="left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7D9300C-CFE1-1751-9FE3-84AD05EEC1D8}"/>
                </a:ext>
              </a:extLst>
            </p:cNvPr>
            <p:cNvSpPr txBox="1"/>
            <p:nvPr/>
          </p:nvSpPr>
          <p:spPr>
            <a:xfrm>
              <a:off x="9619441" y="1744359"/>
              <a:ext cx="2276383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en-US" dirty="0">
                  <a:latin typeface="Calisto MT" panose="02040603050505030304" pitchFamily="18" charset="0"/>
                </a:rPr>
                <a:t>Shows High &amp; Low Revenue as per Region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5214660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811EA7-F3A7-544C-6521-B020810189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62" t="36394" r="631"/>
          <a:stretch>
            <a:fillRect/>
          </a:stretch>
        </p:blipFill>
        <p:spPr>
          <a:xfrm>
            <a:off x="1354346" y="543465"/>
            <a:ext cx="8944975" cy="3657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Arrow: Up 6">
            <a:extLst>
              <a:ext uri="{FF2B5EF4-FFF2-40B4-BE49-F238E27FC236}">
                <a16:creationId xmlns:a16="http://schemas.microsoft.com/office/drawing/2014/main" id="{1F026EE0-18A9-11A6-C1FF-889183838105}"/>
              </a:ext>
            </a:extLst>
          </p:cNvPr>
          <p:cNvSpPr/>
          <p:nvPr/>
        </p:nvSpPr>
        <p:spPr>
          <a:xfrm>
            <a:off x="7962181" y="3976777"/>
            <a:ext cx="345057" cy="1164566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5812F-593A-B5BF-CAC0-94EEB906FB2D}"/>
              </a:ext>
            </a:extLst>
          </p:cNvPr>
          <p:cNvSpPr txBox="1"/>
          <p:nvPr/>
        </p:nvSpPr>
        <p:spPr>
          <a:xfrm>
            <a:off x="5259957" y="5141343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Calisto MT" panose="02040603050505030304" pitchFamily="18" charset="0"/>
              </a:rPr>
              <a:t>Total Quantity Sold &amp; Revenue generated as per region</a:t>
            </a:r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308D9A46-BED6-783E-6848-A77B83567522}"/>
              </a:ext>
            </a:extLst>
          </p:cNvPr>
          <p:cNvSpPr/>
          <p:nvPr/>
        </p:nvSpPr>
        <p:spPr>
          <a:xfrm rot="5400000">
            <a:off x="2475780" y="4658266"/>
            <a:ext cx="1613142" cy="284671"/>
          </a:xfrm>
          <a:prstGeom prst="leftArrow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E61CA-4BAC-B940-078E-A3C68A59E2C6}"/>
              </a:ext>
            </a:extLst>
          </p:cNvPr>
          <p:cNvSpPr txBox="1"/>
          <p:nvPr/>
        </p:nvSpPr>
        <p:spPr>
          <a:xfrm>
            <a:off x="683643" y="5685610"/>
            <a:ext cx="597594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Calisto MT" panose="02040603050505030304" pitchFamily="18" charset="0"/>
              </a:rPr>
              <a:t>You Pivot Table of Quantity VS Revenue as per Product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681060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6BC39-BC74-994F-824E-EFF75CB67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6" y="609600"/>
            <a:ext cx="10768854" cy="540571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5400" dirty="0">
                <a:latin typeface="Bell MT" panose="02020503060305020303" pitchFamily="18" charset="0"/>
              </a:rPr>
              <a:t>Interaction with Tableau Dashboard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BE053FC-9B55-7B6C-23B5-1EC357E37B4A}"/>
              </a:ext>
            </a:extLst>
          </p:cNvPr>
          <p:cNvGrpSpPr/>
          <p:nvPr/>
        </p:nvGrpSpPr>
        <p:grpSpPr>
          <a:xfrm>
            <a:off x="1136869" y="435660"/>
            <a:ext cx="9918262" cy="5753595"/>
            <a:chOff x="1136869" y="435660"/>
            <a:chExt cx="9918262" cy="575359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EE3A74-4849-648F-154E-C00297408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6869" y="435660"/>
              <a:ext cx="9918262" cy="5753595"/>
            </a:xfrm>
            <a:prstGeom prst="rect">
              <a:avLst/>
            </a:prstGeom>
          </p:spPr>
        </p:pic>
        <p:sp>
          <p:nvSpPr>
            <p:cNvPr id="8" name="Arrow: Bent-Up 7">
              <a:extLst>
                <a:ext uri="{FF2B5EF4-FFF2-40B4-BE49-F238E27FC236}">
                  <a16:creationId xmlns:a16="http://schemas.microsoft.com/office/drawing/2014/main" id="{23B131E5-BA8D-3956-F594-C1626164CF7E}"/>
                </a:ext>
              </a:extLst>
            </p:cNvPr>
            <p:cNvSpPr/>
            <p:nvPr/>
          </p:nvSpPr>
          <p:spPr>
            <a:xfrm flipH="1">
              <a:off x="3065928" y="2196353"/>
              <a:ext cx="5647766" cy="887506"/>
            </a:xfrm>
            <a:prstGeom prst="bentUp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77CB7A3-30C4-6F0E-E795-97CAD4061025}"/>
                </a:ext>
              </a:extLst>
            </p:cNvPr>
            <p:cNvSpPr txBox="1"/>
            <p:nvPr/>
          </p:nvSpPr>
          <p:spPr>
            <a:xfrm>
              <a:off x="3658195" y="2455440"/>
              <a:ext cx="590714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800" dirty="0">
                  <a:latin typeface="Calisto MT" panose="02040603050505030304" pitchFamily="18" charset="0"/>
                </a:rPr>
                <a:t>It will Filter the Visuals according to the Month</a:t>
              </a:r>
              <a:endParaRPr lang="en-IN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D740FE-7D82-265E-00E5-EB9D3C75F342}"/>
              </a:ext>
            </a:extLst>
          </p:cNvPr>
          <p:cNvGrpSpPr/>
          <p:nvPr/>
        </p:nvGrpSpPr>
        <p:grpSpPr>
          <a:xfrm>
            <a:off x="1240439" y="435660"/>
            <a:ext cx="9711121" cy="6037137"/>
            <a:chOff x="1002874" y="1962989"/>
            <a:chExt cx="9711121" cy="603713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5BE847C-0E42-F12B-1537-CBFB61C552A8}"/>
                </a:ext>
              </a:extLst>
            </p:cNvPr>
            <p:cNvGrpSpPr/>
            <p:nvPr/>
          </p:nvGrpSpPr>
          <p:grpSpPr>
            <a:xfrm>
              <a:off x="1002874" y="1962989"/>
              <a:ext cx="9711121" cy="6037137"/>
              <a:chOff x="896470" y="187977"/>
              <a:chExt cx="9711121" cy="6037137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BDAE967C-6F6C-F4A7-B232-AC878F05F2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6470" y="187977"/>
                <a:ext cx="9200828" cy="6037137"/>
              </a:xfrm>
              <a:prstGeom prst="rect">
                <a:avLst/>
              </a:prstGeom>
            </p:spPr>
          </p:pic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098848F-6D31-F724-E866-F23B6DD4CB91}"/>
                  </a:ext>
                </a:extLst>
              </p:cNvPr>
              <p:cNvSpPr txBox="1"/>
              <p:nvPr/>
            </p:nvSpPr>
            <p:spPr>
              <a:xfrm>
                <a:off x="5049473" y="299413"/>
                <a:ext cx="55581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en-US" dirty="0">
                    <a:latin typeface="Calisto MT" panose="02040603050505030304" pitchFamily="18" charset="0"/>
                  </a:rPr>
                  <a:t>Filters the Visuals according to the Category &amp; Month</a:t>
                </a:r>
                <a:endParaRPr lang="en-IN" dirty="0"/>
              </a:p>
            </p:txBody>
          </p: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73AA343-1FD9-5FC2-D915-F4F5C30BBD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7059" y="2413960"/>
              <a:ext cx="2377166" cy="409698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7691ADB-4932-55DD-3224-EA67D6E76EF2}"/>
              </a:ext>
            </a:extLst>
          </p:cNvPr>
          <p:cNvGrpSpPr/>
          <p:nvPr/>
        </p:nvGrpSpPr>
        <p:grpSpPr>
          <a:xfrm>
            <a:off x="774971" y="498164"/>
            <a:ext cx="10986723" cy="5812740"/>
            <a:chOff x="774971" y="498164"/>
            <a:chExt cx="10986723" cy="5812740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0C857D4-0157-896C-4C94-9FE4A9CB19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4971" y="498164"/>
              <a:ext cx="9507938" cy="5812740"/>
            </a:xfrm>
            <a:prstGeom prst="rect">
              <a:avLst/>
            </a:prstGeom>
          </p:spPr>
        </p:pic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425A178-1D22-83E5-B705-484FD4E4D5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6713" y="1091480"/>
              <a:ext cx="4599287" cy="340708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F585DA1-7B40-C003-B554-E4437C98A865}"/>
                </a:ext>
              </a:extLst>
            </p:cNvPr>
            <p:cNvSpPr txBox="1"/>
            <p:nvPr/>
          </p:nvSpPr>
          <p:spPr>
            <a:xfrm>
              <a:off x="5665694" y="68069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We can see customer activity from here.</a:t>
              </a:r>
              <a:endParaRPr lang="en-IN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4E48C95-1D7A-03D0-63E8-C20F293C591C}"/>
              </a:ext>
            </a:extLst>
          </p:cNvPr>
          <p:cNvGrpSpPr/>
          <p:nvPr/>
        </p:nvGrpSpPr>
        <p:grpSpPr>
          <a:xfrm>
            <a:off x="774971" y="50235"/>
            <a:ext cx="11589007" cy="6571129"/>
            <a:chOff x="774971" y="50235"/>
            <a:chExt cx="11589007" cy="6571129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A270F1D-D186-8DAB-15A6-71775D1E1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4971" y="50235"/>
              <a:ext cx="10091160" cy="6571129"/>
            </a:xfrm>
            <a:prstGeom prst="rect">
              <a:avLst/>
            </a:prstGeom>
          </p:spPr>
        </p:pic>
        <p:sp>
          <p:nvSpPr>
            <p:cNvPr id="38" name="Arrow: Left 37">
              <a:extLst>
                <a:ext uri="{FF2B5EF4-FFF2-40B4-BE49-F238E27FC236}">
                  <a16:creationId xmlns:a16="http://schemas.microsoft.com/office/drawing/2014/main" id="{D12E6694-627A-D6EA-9A46-EE3923CC9385}"/>
                </a:ext>
              </a:extLst>
            </p:cNvPr>
            <p:cNvSpPr/>
            <p:nvPr/>
          </p:nvSpPr>
          <p:spPr>
            <a:xfrm>
              <a:off x="9103394" y="3404534"/>
              <a:ext cx="2124635" cy="513042"/>
            </a:xfrm>
            <a:prstGeom prst="leftArrow">
              <a:avLst/>
            </a:prstGeom>
            <a:solidFill>
              <a:schemeClr val="tx1"/>
            </a:soli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F20333E-7728-7F88-1138-488A16A62F36}"/>
                </a:ext>
              </a:extLst>
            </p:cNvPr>
            <p:cNvSpPr txBox="1"/>
            <p:nvPr/>
          </p:nvSpPr>
          <p:spPr>
            <a:xfrm>
              <a:off x="9253616" y="3958379"/>
              <a:ext cx="3110362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dirty="0">
                  <a:latin typeface="Calisto MT" panose="02040603050505030304" pitchFamily="18" charset="0"/>
                </a:rPr>
                <a:t>Visuals You can Filter According to the Region &amp; see other visuals w.r.t region</a:t>
              </a:r>
              <a:endParaRPr lang="en-IN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4E6C07C-8D55-90B5-3FCA-A9005867A570}"/>
              </a:ext>
            </a:extLst>
          </p:cNvPr>
          <p:cNvGrpSpPr/>
          <p:nvPr/>
        </p:nvGrpSpPr>
        <p:grpSpPr>
          <a:xfrm>
            <a:off x="1361528" y="366979"/>
            <a:ext cx="9504603" cy="5777360"/>
            <a:chOff x="1361528" y="366979"/>
            <a:chExt cx="9504603" cy="577736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587B9DAB-DD2C-AC3A-E06A-E5421BE31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98737" y="366979"/>
              <a:ext cx="6058746" cy="4915586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3779CED-75C9-4C8B-85E9-4048F09DFBC9}"/>
                </a:ext>
              </a:extLst>
            </p:cNvPr>
            <p:cNvSpPr txBox="1"/>
            <p:nvPr/>
          </p:nvSpPr>
          <p:spPr>
            <a:xfrm>
              <a:off x="1361528" y="5282565"/>
              <a:ext cx="9504603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IN" sz="2500" dirty="0">
                  <a:latin typeface="Bell MT" panose="02020503060305020303" pitchFamily="18" charset="0"/>
                </a:rPr>
                <a:t>You Cannot Interact with the Pivot table , but it will change according to the Filters on other Visuals.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21975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22" presetClass="exit" presetSubtype="4" fill="hold" grpId="2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wipe(down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2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DE2FF-B7A3-FC55-FCE9-F752A1B0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929" y="405114"/>
            <a:ext cx="10589871" cy="1285574"/>
          </a:xfrm>
        </p:spPr>
        <p:txBody>
          <a:bodyPr>
            <a:normAutofit/>
          </a:bodyPr>
          <a:lstStyle/>
          <a:p>
            <a:r>
              <a:rPr lang="en-IN" b="1" dirty="0"/>
              <a:t>Prediction</a:t>
            </a:r>
            <a:r>
              <a:rPr lang="en-IN" dirty="0"/>
              <a:t> </a:t>
            </a:r>
            <a:r>
              <a:rPr lang="en-IN" dirty="0">
                <a:sym typeface="Wingdings" panose="05000000000000000000" pitchFamily="2" charset="2"/>
              </a:rPr>
              <a:t></a:t>
            </a:r>
            <a:br>
              <a:rPr lang="en-IN" dirty="0">
                <a:sym typeface="Wingdings" panose="05000000000000000000" pitchFamily="2" charset="2"/>
              </a:rPr>
            </a:br>
            <a:r>
              <a:rPr lang="en-IN" sz="3100" dirty="0">
                <a:sym typeface="Wingdings" panose="05000000000000000000" pitchFamily="2" charset="2"/>
              </a:rPr>
              <a:t>Model was trained &amp; tested on </a:t>
            </a:r>
            <a:r>
              <a:rPr lang="en-IN" sz="3100" dirty="0" err="1">
                <a:sym typeface="Wingdings" panose="05000000000000000000" pitchFamily="2" charset="2"/>
              </a:rPr>
              <a:t>test_data</a:t>
            </a:r>
            <a:r>
              <a:rPr lang="en-IN" sz="3100" dirty="0">
                <a:sym typeface="Wingdings" panose="05000000000000000000" pitchFamily="2" charset="2"/>
              </a:rPr>
              <a:t>.</a:t>
            </a:r>
            <a:endParaRPr lang="en-IN" sz="31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7157B-04B9-F41D-2979-5660F1918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6515" y="1689740"/>
            <a:ext cx="6697566" cy="4763146"/>
          </a:xfrm>
        </p:spPr>
      </p:pic>
    </p:spTree>
    <p:extLst>
      <p:ext uri="{BB962C8B-B14F-4D97-AF65-F5344CB8AC3E}">
        <p14:creationId xmlns:p14="http://schemas.microsoft.com/office/powerpoint/2010/main" val="386795501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BE85C-EF19-1B9E-9D2A-9F2B64205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" y="83944"/>
            <a:ext cx="10515600" cy="1325563"/>
          </a:xfrm>
        </p:spPr>
        <p:txBody>
          <a:bodyPr/>
          <a:lstStyle/>
          <a:p>
            <a:r>
              <a:rPr lang="en-IN" b="1" dirty="0"/>
              <a:t>Forecasting using Prophet Model </a:t>
            </a:r>
            <a:r>
              <a:rPr lang="en-IN" b="1" dirty="0">
                <a:sym typeface="Wingdings" panose="05000000000000000000" pitchFamily="2" charset="2"/>
              </a:rPr>
              <a:t></a:t>
            </a:r>
            <a:endParaRPr lang="en-IN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CCBF30-1256-4E5F-4A7E-F2556B24C7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37" y="1409507"/>
            <a:ext cx="8196033" cy="4894392"/>
          </a:xfrm>
        </p:spPr>
      </p:pic>
    </p:spTree>
    <p:extLst>
      <p:ext uri="{BB962C8B-B14F-4D97-AF65-F5344CB8AC3E}">
        <p14:creationId xmlns:p14="http://schemas.microsoft.com/office/powerpoint/2010/main" val="320647782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0E237-1571-3635-175D-DB767E3C5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44687"/>
            <a:ext cx="10515600" cy="1325563"/>
          </a:xfrm>
        </p:spPr>
        <p:txBody>
          <a:bodyPr>
            <a:normAutofit/>
          </a:bodyPr>
          <a:lstStyle/>
          <a:p>
            <a:r>
              <a:rPr lang="en-IN" sz="8000" dirty="0">
                <a:latin typeface="Footlight MT Light" panose="0204060206030A020304" pitchFamily="18" charset="0"/>
              </a:rPr>
              <a:t>End of Slides….</a:t>
            </a:r>
          </a:p>
        </p:txBody>
      </p:sp>
    </p:spTree>
    <p:extLst>
      <p:ext uri="{BB962C8B-B14F-4D97-AF65-F5344CB8AC3E}">
        <p14:creationId xmlns:p14="http://schemas.microsoft.com/office/powerpoint/2010/main" val="3545792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8682250-D3F3-4880-B41E-12450311DE98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598</Words>
  <Application>Microsoft Office PowerPoint</Application>
  <PresentationFormat>Widescreen</PresentationFormat>
  <Paragraphs>66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Aparajita</vt:lpstr>
      <vt:lpstr>Arial</vt:lpstr>
      <vt:lpstr>Bell MT</vt:lpstr>
      <vt:lpstr>Calibri</vt:lpstr>
      <vt:lpstr>Calibri Light</vt:lpstr>
      <vt:lpstr>Calisto MT</vt:lpstr>
      <vt:lpstr>Footlight MT Light</vt:lpstr>
      <vt:lpstr>Wingdings</vt:lpstr>
      <vt:lpstr>Office Theme</vt:lpstr>
      <vt:lpstr>Sales Dashboard &amp; Forecasting Presentation Using Power BI &amp; Tableau</vt:lpstr>
      <vt:lpstr>PowerPoint Presentation</vt:lpstr>
      <vt:lpstr>Collapse the Filters, Visualization, Data tabs for better view in PowerBI desktop by clicking on the arrow’s.</vt:lpstr>
      <vt:lpstr>PowerPoint Presentation</vt:lpstr>
      <vt:lpstr>Interaction with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Prediction  Model was trained &amp; tested on test_data.</vt:lpstr>
      <vt:lpstr>Forecasting using Prophet Model </vt:lpstr>
      <vt:lpstr>End of Slides….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Nakesh 2056</dc:creator>
  <cp:lastModifiedBy>Nakesh 2056</cp:lastModifiedBy>
  <cp:revision>9</cp:revision>
  <dcterms:created xsi:type="dcterms:W3CDTF">2025-06-12T13:03:54Z</dcterms:created>
  <dcterms:modified xsi:type="dcterms:W3CDTF">2025-12-09T06:41:13Z</dcterms:modified>
</cp:coreProperties>
</file>